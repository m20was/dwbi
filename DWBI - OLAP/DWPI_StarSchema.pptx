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012367-C05A-477A-B0C0-1322BFD745EA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3299C-FF34-4FC5-89A5-895293027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3299C-FF34-4FC5-89A5-895293027F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19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B126-8361-21C3-4B1B-7E28EE0BC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BD9F3-C5A2-FB07-18D1-AC28BD5BA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3AF61-BAE5-B86E-A2B3-B3F57E5EC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1D34-4756-4BE4-AF27-683EF59E54D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97F5-C265-E45F-2835-C42935299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AEB2E-5277-F283-1154-C638AC75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EA0C1-5311-48FA-9BC0-4CD64224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63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D097-C141-93C9-69B7-E917C02D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7E3DE-3143-1909-7D78-E456E66A2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BA046-E2C9-F7EE-5610-1B1EFC334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1D34-4756-4BE4-AF27-683EF59E54D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E2353-0001-6723-C582-7584913D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6CF2A-58A0-3211-2DD9-92618284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EA0C1-5311-48FA-9BC0-4CD64224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03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2505-7E82-5658-539F-CF2930DCF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47BF3-B239-ACAA-B671-2EF7A4888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D6C4F-5851-CAA4-864E-F18C8FEE1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1D34-4756-4BE4-AF27-683EF59E54D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71EE3-3D7A-5776-121B-8C42127F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24F79-538F-4F7F-5D1A-D727CD1C7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EA0C1-5311-48FA-9BC0-4CD64224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1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EAA3E-208E-0C5A-A23B-49E89CE4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B1649-9EE4-9CAA-0CAF-6BC808395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580CA-42B3-915A-0157-FBD5FB689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C9B68-AB56-2409-2FB7-9DA3EFF72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1D34-4756-4BE4-AF27-683EF59E54D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16F78-63A3-0BB2-B04C-87ABEA652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339D0-2452-4CD4-B783-C5628D1DE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EA0C1-5311-48FA-9BC0-4CD64224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22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E9C3B-BF8D-7624-8DDC-EF9AF614E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31A96-6068-8725-5590-ACBE4211F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B70AB-C453-D8F3-2A12-63A6C0CDE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C9BF6F-81BA-A070-0A63-833144A5BC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77DF0-2999-BC16-076C-20CA938AE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8D7CB-FF5C-EC4A-45FB-8388A39FE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1D34-4756-4BE4-AF27-683EF59E54D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DF296-E902-A9A0-18C6-40F730C15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A10040-DAF5-0B66-0627-AA121382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EA0C1-5311-48FA-9BC0-4CD64224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68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3394B-FAC6-B128-ACF0-22AC7336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7819F-D58C-1BBA-95A4-11CAF787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1D34-4756-4BE4-AF27-683EF59E54D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24EAD-E4AC-7B4A-9D2D-D4C51A379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2D0F2-659A-D9F9-BFD4-9AABC92A9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EA0C1-5311-48FA-9BC0-4CD64224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24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450954-679F-E359-CBBF-F4AF9191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1D34-4756-4BE4-AF27-683EF59E54D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B48C3C-8281-7033-389E-6FFFEDBA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AD756-795F-BDC0-68CC-CD96F1F8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EA0C1-5311-48FA-9BC0-4CD64224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C8058-9044-2137-D98F-871DBF2C3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4B4D0-AE47-CEA1-D7FD-2745715E9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645B2A-4062-81D5-F7C7-915F9CAF3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158B4-BC30-8088-9555-C86AEB5A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1D34-4756-4BE4-AF27-683EF59E54D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17C48-15D1-EE2E-2CD9-A39ABA8B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D8C91-C666-0B1D-0897-8EFB22CC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EA0C1-5311-48FA-9BC0-4CD64224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2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3E982-85E7-F08A-584B-AC417BB8B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8AFA8-2659-6DD5-BC3D-DDF574E607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3EDF4-28E4-EE43-5AA9-B12AD5D24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B0B1E-64AA-4035-C680-AA4D26354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1D34-4756-4BE4-AF27-683EF59E54D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6F92D-E14C-5545-5E0B-877C345FA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B8BB5-8BCF-A703-3C3D-6FCCFA559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EA0C1-5311-48FA-9BC0-4CD64224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3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3F61-F8FF-AF66-DCA6-5B8A19D0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2493B-350B-E93B-3E91-FCD5D9445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38008-925E-EBCD-BA5F-4CB844855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1D34-4756-4BE4-AF27-683EF59E54D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4D603-9B8D-A754-EBAF-72D35F87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11368-D9EE-F0C0-10F7-D73B46BC5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EA0C1-5311-48FA-9BC0-4CD64224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6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36F354-1AEE-B9A8-B9AA-E82718CA8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4107D-A951-59BB-C06D-615630D2E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2951-A797-87DC-C03F-6E00250BD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51D34-4756-4BE4-AF27-683EF59E54D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DCE14-12E5-9E06-32F2-C051C52A5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A6042-7E89-5D4D-F676-BDCA1BF70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EA0C1-5311-48FA-9BC0-4CD64224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13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D7C10-1746-2A76-2A91-7EBD071A6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55FDD-4385-9438-DF7C-D47A9E51B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DAB3D-95B9-9A4F-D39E-43D97B8A7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51D34-4756-4BE4-AF27-683EF59E54D7}" type="datetimeFigureOut">
              <a:rPr lang="en-US" smtClean="0"/>
              <a:t>8/22/2022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10ECD-D7F3-3D3A-CAA9-636998585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D9540-DA67-4F86-3BBC-31E8EB184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EA0C1-5311-48FA-9BC0-4CD642245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63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484AE6E-2ABC-A08F-039A-34F511CC4F03}"/>
              </a:ext>
            </a:extLst>
          </p:cNvPr>
          <p:cNvSpPr/>
          <p:nvPr/>
        </p:nvSpPr>
        <p:spPr>
          <a:xfrm>
            <a:off x="10018642" y="159026"/>
            <a:ext cx="1948071" cy="17890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Guest_dim</a:t>
            </a:r>
            <a:endParaRPr lang="en-US" sz="1400" b="1" dirty="0">
              <a:solidFill>
                <a:schemeClr val="tx1"/>
              </a:solidFill>
            </a:endParaRPr>
          </a:p>
          <a:p>
            <a:pPr algn="just"/>
            <a:r>
              <a:rPr lang="en-US" sz="1000" dirty="0" err="1">
                <a:solidFill>
                  <a:schemeClr val="tx1"/>
                </a:solidFill>
              </a:rPr>
              <a:t>Guest_id</a:t>
            </a:r>
            <a:r>
              <a:rPr lang="en-US" sz="1000" dirty="0">
                <a:solidFill>
                  <a:schemeClr val="tx1"/>
                </a:solidFill>
              </a:rPr>
              <a:t>                 Integer(5)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 err="1">
                <a:solidFill>
                  <a:schemeClr val="tx1"/>
                </a:solidFill>
              </a:rPr>
              <a:t>name_guest</a:t>
            </a:r>
            <a:r>
              <a:rPr lang="en-US" sz="1000" dirty="0">
                <a:solidFill>
                  <a:schemeClr val="tx1"/>
                </a:solidFill>
              </a:rPr>
              <a:t>              Varchar(20)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company                    Varchar(20)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address                       Varchar(20)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city                               Varchar(20)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zip                      Varchar(20)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country             Varchar(20)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nationality        Varchar(20)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phone                            Varchar(20)</a:t>
            </a:r>
          </a:p>
          <a:p>
            <a:pPr algn="just"/>
            <a:r>
              <a:rPr lang="en-US" sz="1000" dirty="0">
                <a:solidFill>
                  <a:schemeClr val="tx1"/>
                </a:solidFill>
              </a:rPr>
              <a:t>language                        Varchar(20)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C03C8C-15D5-D34C-36ED-C0F91F88ABF9}"/>
              </a:ext>
            </a:extLst>
          </p:cNvPr>
          <p:cNvSpPr/>
          <p:nvPr/>
        </p:nvSpPr>
        <p:spPr>
          <a:xfrm>
            <a:off x="7140187" y="508433"/>
            <a:ext cx="2286001" cy="13981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Reservation</a:t>
            </a: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room_id</a:t>
            </a:r>
            <a:r>
              <a:rPr lang="en-US" sz="1050" dirty="0">
                <a:solidFill>
                  <a:schemeClr val="tx1"/>
                </a:solidFill>
              </a:rPr>
              <a:t>                 Integer(6)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time_id</a:t>
            </a:r>
            <a:r>
              <a:rPr lang="en-US" sz="1050" dirty="0">
                <a:solidFill>
                  <a:schemeClr val="tx1"/>
                </a:solidFill>
              </a:rPr>
              <a:t> Integer(6)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guest_id</a:t>
            </a:r>
            <a:r>
              <a:rPr lang="en-US" sz="1050" dirty="0">
                <a:solidFill>
                  <a:schemeClr val="tx1"/>
                </a:solidFill>
              </a:rPr>
              <a:t> Integer(6)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agent_id</a:t>
            </a:r>
            <a:r>
              <a:rPr lang="en-US" sz="1050" dirty="0">
                <a:solidFill>
                  <a:schemeClr val="tx1"/>
                </a:solidFill>
              </a:rPr>
              <a:t> Integer(6)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room_price</a:t>
            </a:r>
            <a:r>
              <a:rPr lang="en-US" sz="1050" dirty="0">
                <a:solidFill>
                  <a:schemeClr val="tx1"/>
                </a:solidFill>
              </a:rPr>
              <a:t> Integer(6)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late_Co_price</a:t>
            </a:r>
            <a:r>
              <a:rPr lang="en-US" sz="1050" dirty="0">
                <a:solidFill>
                  <a:schemeClr val="tx1"/>
                </a:solidFill>
              </a:rPr>
              <a:t> Integer(6)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>
                <a:solidFill>
                  <a:schemeClr val="tx1"/>
                </a:solidFill>
              </a:rPr>
              <a:t>amount                                     Integer(6)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07A2D3-5E48-5033-8EF2-F80D1A1E979D}"/>
              </a:ext>
            </a:extLst>
          </p:cNvPr>
          <p:cNvSpPr/>
          <p:nvPr/>
        </p:nvSpPr>
        <p:spPr>
          <a:xfrm>
            <a:off x="8115342" y="2691562"/>
            <a:ext cx="2877335" cy="10973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Check_in_fact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room_id</a:t>
            </a:r>
            <a:r>
              <a:rPr lang="en-US" sz="1050" dirty="0">
                <a:solidFill>
                  <a:schemeClr val="tx1"/>
                </a:solidFill>
              </a:rPr>
              <a:t>                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time_id</a:t>
            </a:r>
            <a:r>
              <a:rPr lang="en-US" sz="1050" dirty="0">
                <a:solidFill>
                  <a:schemeClr val="tx1"/>
                </a:solidFill>
              </a:rPr>
              <a:t>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guest_id</a:t>
            </a:r>
            <a:r>
              <a:rPr lang="en-US" sz="1050" dirty="0">
                <a:solidFill>
                  <a:schemeClr val="tx1"/>
                </a:solidFill>
              </a:rPr>
              <a:t>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agent_id</a:t>
            </a:r>
            <a:r>
              <a:rPr lang="en-US" sz="1050" dirty="0">
                <a:solidFill>
                  <a:schemeClr val="tx1"/>
                </a:solidFill>
              </a:rPr>
              <a:t>                                                            Integer</a:t>
            </a: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count_checkin</a:t>
            </a:r>
            <a:r>
              <a:rPr lang="en-US" sz="1050" dirty="0">
                <a:solidFill>
                  <a:schemeClr val="tx1"/>
                </a:solidFill>
              </a:rPr>
              <a:t>                                         Varchar(10)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A91C57-CAF8-827A-88AC-982D2DDDA33E}"/>
              </a:ext>
            </a:extLst>
          </p:cNvPr>
          <p:cNvSpPr/>
          <p:nvPr/>
        </p:nvSpPr>
        <p:spPr>
          <a:xfrm>
            <a:off x="9014254" y="4198396"/>
            <a:ext cx="2877335" cy="10413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Travel_agent_dim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agent_id</a:t>
            </a:r>
            <a:r>
              <a:rPr lang="en-US" sz="1050" dirty="0">
                <a:solidFill>
                  <a:schemeClr val="tx1"/>
                </a:solidFill>
              </a:rPr>
              <a:t>                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agent_name</a:t>
            </a:r>
            <a:r>
              <a:rPr lang="en-US" sz="1050" dirty="0">
                <a:solidFill>
                  <a:schemeClr val="tx1"/>
                </a:solidFill>
              </a:rPr>
              <a:t> Varchar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contact_person</a:t>
            </a:r>
            <a:r>
              <a:rPr lang="en-US" sz="1050" dirty="0">
                <a:solidFill>
                  <a:schemeClr val="tx1"/>
                </a:solidFill>
              </a:rPr>
              <a:t> Varchar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address_agent</a:t>
            </a:r>
            <a:r>
              <a:rPr lang="en-US" sz="1050" dirty="0">
                <a:solidFill>
                  <a:schemeClr val="tx1"/>
                </a:solidFill>
              </a:rPr>
              <a:t>                                                Varchar</a:t>
            </a:r>
          </a:p>
          <a:p>
            <a:pPr algn="just"/>
            <a:r>
              <a:rPr lang="en-US" sz="1050" dirty="0">
                <a:solidFill>
                  <a:schemeClr val="tx1"/>
                </a:solidFill>
              </a:rPr>
              <a:t>Phone                                                              Varchar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786C2C-CD15-CA21-D544-6734CA40C408}"/>
              </a:ext>
            </a:extLst>
          </p:cNvPr>
          <p:cNvSpPr/>
          <p:nvPr/>
        </p:nvSpPr>
        <p:spPr>
          <a:xfrm>
            <a:off x="8743138" y="5760209"/>
            <a:ext cx="2877335" cy="690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Customer_Event_dim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CustomerEvent_id</a:t>
            </a:r>
            <a:r>
              <a:rPr lang="en-US" sz="1050" dirty="0">
                <a:solidFill>
                  <a:schemeClr val="tx1"/>
                </a:solidFill>
              </a:rPr>
              <a:t>                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Name_cust</a:t>
            </a:r>
            <a:r>
              <a:rPr lang="en-US" sz="1050" dirty="0">
                <a:solidFill>
                  <a:schemeClr val="tx1"/>
                </a:solidFill>
              </a:rPr>
              <a:t> Varchar</a:t>
            </a:r>
            <a:br>
              <a:rPr lang="en-US" sz="1050" dirty="0">
                <a:solidFill>
                  <a:schemeClr val="tx1"/>
                </a:solidFill>
              </a:rPr>
            </a:br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546E1D1-8280-0E38-EBE0-85C902803B3E}"/>
              </a:ext>
            </a:extLst>
          </p:cNvPr>
          <p:cNvCxnSpPr>
            <a:cxnSpLocks/>
          </p:cNvCxnSpPr>
          <p:nvPr/>
        </p:nvCxnSpPr>
        <p:spPr>
          <a:xfrm rot="5400000">
            <a:off x="10453814" y="2486933"/>
            <a:ext cx="1480930" cy="403204"/>
          </a:xfrm>
          <a:prstGeom prst="bentConnector3">
            <a:avLst>
              <a:gd name="adj1" fmla="val 675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62594C5-C0BF-327F-D538-9D581401EFCD}"/>
              </a:ext>
            </a:extLst>
          </p:cNvPr>
          <p:cNvCxnSpPr/>
          <p:nvPr/>
        </p:nvCxnSpPr>
        <p:spPr>
          <a:xfrm>
            <a:off x="10563367" y="3788897"/>
            <a:ext cx="0" cy="409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CB85416-79FE-A6BB-9F40-93BE798B77C9}"/>
              </a:ext>
            </a:extLst>
          </p:cNvPr>
          <p:cNvSpPr/>
          <p:nvPr/>
        </p:nvSpPr>
        <p:spPr>
          <a:xfrm>
            <a:off x="706881" y="5760209"/>
            <a:ext cx="2877335" cy="6907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Room_Car_dim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Room_Car_id</a:t>
            </a:r>
            <a:r>
              <a:rPr lang="en-US" sz="1050" dirty="0">
                <a:solidFill>
                  <a:schemeClr val="tx1"/>
                </a:solidFill>
              </a:rPr>
              <a:t>                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Room_Car_name</a:t>
            </a:r>
            <a:r>
              <a:rPr lang="en-US" sz="1050" dirty="0">
                <a:solidFill>
                  <a:schemeClr val="tx1"/>
                </a:solidFill>
              </a:rPr>
              <a:t> Varchar</a:t>
            </a:r>
            <a:br>
              <a:rPr lang="en-US" sz="1050" dirty="0">
                <a:solidFill>
                  <a:schemeClr val="tx1"/>
                </a:solidFill>
              </a:rPr>
            </a:b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B8F60A-B3E4-2897-D37E-4377315ABDFF}"/>
              </a:ext>
            </a:extLst>
          </p:cNvPr>
          <p:cNvSpPr/>
          <p:nvPr/>
        </p:nvSpPr>
        <p:spPr>
          <a:xfrm>
            <a:off x="159656" y="2260543"/>
            <a:ext cx="2877335" cy="713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Customer_dim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Customer_id</a:t>
            </a:r>
            <a:r>
              <a:rPr lang="en-US" sz="1050" dirty="0">
                <a:solidFill>
                  <a:schemeClr val="tx1"/>
                </a:solidFill>
              </a:rPr>
              <a:t>                                                     Integer</a:t>
            </a: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Id_guest</a:t>
            </a:r>
            <a:r>
              <a:rPr lang="en-US" sz="1050" dirty="0">
                <a:solidFill>
                  <a:schemeClr val="tx1"/>
                </a:solidFill>
              </a:rPr>
              <a:t>                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Table_no</a:t>
            </a:r>
            <a:r>
              <a:rPr lang="en-US" sz="1050" dirty="0">
                <a:solidFill>
                  <a:schemeClr val="tx1"/>
                </a:solidFill>
              </a:rPr>
              <a:t>                                                          Varchar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D9076B-0DD0-CC55-D7E4-75EBB72D1D15}"/>
              </a:ext>
            </a:extLst>
          </p:cNvPr>
          <p:cNvSpPr/>
          <p:nvPr/>
        </p:nvSpPr>
        <p:spPr>
          <a:xfrm>
            <a:off x="72188" y="4254004"/>
            <a:ext cx="2877335" cy="140215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Menu_dim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Menu_id</a:t>
            </a:r>
            <a:r>
              <a:rPr lang="en-US" sz="1050" dirty="0">
                <a:solidFill>
                  <a:schemeClr val="tx1"/>
                </a:solidFill>
              </a:rPr>
              <a:t>                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Menu_code</a:t>
            </a:r>
            <a:r>
              <a:rPr lang="en-US" sz="1050" dirty="0">
                <a:solidFill>
                  <a:schemeClr val="tx1"/>
                </a:solidFill>
              </a:rPr>
              <a:t> Varchar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Menu_name</a:t>
            </a:r>
            <a:r>
              <a:rPr lang="en-US" sz="1050" dirty="0">
                <a:solidFill>
                  <a:schemeClr val="tx1"/>
                </a:solidFill>
              </a:rPr>
              <a:t> Varchar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Menu_portion</a:t>
            </a:r>
            <a:r>
              <a:rPr lang="en-US" sz="1050" dirty="0">
                <a:solidFill>
                  <a:schemeClr val="tx1"/>
                </a:solidFill>
              </a:rPr>
              <a:t>                                                Varchar</a:t>
            </a: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Menu_pos_name</a:t>
            </a:r>
            <a:r>
              <a:rPr lang="en-US" sz="1050" dirty="0">
                <a:solidFill>
                  <a:schemeClr val="tx1"/>
                </a:solidFill>
              </a:rPr>
              <a:t> Varchar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Menu_cat</a:t>
            </a:r>
            <a:r>
              <a:rPr lang="en-US" sz="1050" dirty="0">
                <a:solidFill>
                  <a:schemeClr val="tx1"/>
                </a:solidFill>
              </a:rPr>
              <a:t> Varchar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Menu_price</a:t>
            </a:r>
            <a:r>
              <a:rPr lang="en-US" sz="1050" dirty="0">
                <a:solidFill>
                  <a:schemeClr val="tx1"/>
                </a:solidFill>
              </a:rPr>
              <a:t>                                                Varchar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1A169A-23F1-44D7-A09F-2A573410985E}"/>
              </a:ext>
            </a:extLst>
          </p:cNvPr>
          <p:cNvSpPr/>
          <p:nvPr/>
        </p:nvSpPr>
        <p:spPr>
          <a:xfrm>
            <a:off x="4993918" y="5722775"/>
            <a:ext cx="2877335" cy="10413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Room_Event_dim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Event_id</a:t>
            </a:r>
            <a:r>
              <a:rPr lang="en-US" sz="1050" dirty="0">
                <a:solidFill>
                  <a:schemeClr val="tx1"/>
                </a:solidFill>
              </a:rPr>
              <a:t>                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Room_Car_id</a:t>
            </a:r>
            <a:r>
              <a:rPr lang="en-US" sz="1050" dirty="0">
                <a:solidFill>
                  <a:schemeClr val="tx1"/>
                </a:solidFill>
              </a:rPr>
              <a:t>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Room_Event_name</a:t>
            </a:r>
            <a:r>
              <a:rPr lang="en-US" sz="1050" dirty="0">
                <a:solidFill>
                  <a:schemeClr val="tx1"/>
                </a:solidFill>
              </a:rPr>
              <a:t> Varchar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>
                <a:solidFill>
                  <a:schemeClr val="tx1"/>
                </a:solidFill>
              </a:rPr>
              <a:t>Price                                                                  Varchar</a:t>
            </a:r>
          </a:p>
          <a:p>
            <a:pPr algn="just"/>
            <a:r>
              <a:rPr lang="en-US" sz="1050" dirty="0">
                <a:solidFill>
                  <a:schemeClr val="tx1"/>
                </a:solidFill>
              </a:rPr>
              <a:t>Capacity                                                            Varchar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EB1104-6104-9B85-6974-9286B9996B42}"/>
              </a:ext>
            </a:extLst>
          </p:cNvPr>
          <p:cNvSpPr/>
          <p:nvPr/>
        </p:nvSpPr>
        <p:spPr>
          <a:xfrm>
            <a:off x="5320346" y="4277125"/>
            <a:ext cx="2877335" cy="1022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Room_Event_fact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Time_id</a:t>
            </a:r>
            <a:r>
              <a:rPr lang="en-US" sz="1050" dirty="0">
                <a:solidFill>
                  <a:schemeClr val="tx1"/>
                </a:solidFill>
              </a:rPr>
              <a:t>                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Room_Event_id</a:t>
            </a:r>
            <a:r>
              <a:rPr lang="en-US" sz="1050" dirty="0">
                <a:solidFill>
                  <a:schemeClr val="tx1"/>
                </a:solidFill>
              </a:rPr>
              <a:t>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Customer_Event_id</a:t>
            </a:r>
            <a:r>
              <a:rPr lang="en-US" sz="1050" dirty="0">
                <a:solidFill>
                  <a:schemeClr val="tx1"/>
                </a:solidFill>
              </a:rPr>
              <a:t>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Room_Event_name</a:t>
            </a:r>
            <a:r>
              <a:rPr lang="en-US" sz="1050" dirty="0">
                <a:solidFill>
                  <a:schemeClr val="tx1"/>
                </a:solidFill>
              </a:rPr>
              <a:t>                                        Varchar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6799E9-1151-522F-834E-68218054B787}"/>
              </a:ext>
            </a:extLst>
          </p:cNvPr>
          <p:cNvSpPr/>
          <p:nvPr/>
        </p:nvSpPr>
        <p:spPr>
          <a:xfrm>
            <a:off x="4475659" y="1911085"/>
            <a:ext cx="2877335" cy="10413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Time_dim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Time_id</a:t>
            </a:r>
            <a:r>
              <a:rPr lang="en-US" sz="1050" dirty="0">
                <a:solidFill>
                  <a:schemeClr val="tx1"/>
                </a:solidFill>
              </a:rPr>
              <a:t>            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>
                <a:solidFill>
                  <a:schemeClr val="tx1"/>
                </a:solidFill>
              </a:rPr>
              <a:t>Day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>
                <a:solidFill>
                  <a:schemeClr val="tx1"/>
                </a:solidFill>
              </a:rPr>
              <a:t>Month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>
                <a:solidFill>
                  <a:schemeClr val="tx1"/>
                </a:solidFill>
              </a:rPr>
              <a:t>Year                                                                    Integer</a:t>
            </a:r>
          </a:p>
          <a:p>
            <a:pPr algn="just"/>
            <a:r>
              <a:rPr lang="en-US" sz="1050" dirty="0">
                <a:solidFill>
                  <a:schemeClr val="tx1"/>
                </a:solidFill>
              </a:rPr>
              <a:t>Hour                                                                       Time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906139-767B-3F1C-11E3-DF8BC7A1ECE7}"/>
              </a:ext>
            </a:extLst>
          </p:cNvPr>
          <p:cNvSpPr/>
          <p:nvPr/>
        </p:nvSpPr>
        <p:spPr>
          <a:xfrm>
            <a:off x="1526782" y="822440"/>
            <a:ext cx="2877335" cy="10413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dirty="0" err="1">
                <a:solidFill>
                  <a:schemeClr val="tx1"/>
                </a:solidFill>
              </a:rPr>
              <a:t>Room_Dim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room_id</a:t>
            </a:r>
            <a:r>
              <a:rPr lang="en-US" sz="1050" dirty="0">
                <a:solidFill>
                  <a:schemeClr val="tx1"/>
                </a:solidFill>
              </a:rPr>
              <a:t>                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room_name</a:t>
            </a:r>
            <a:r>
              <a:rPr lang="en-US" sz="1050" dirty="0">
                <a:solidFill>
                  <a:schemeClr val="tx1"/>
                </a:solidFill>
              </a:rPr>
              <a:t> Varchar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room_price</a:t>
            </a:r>
            <a:r>
              <a:rPr lang="en-US" sz="1050" dirty="0">
                <a:solidFill>
                  <a:schemeClr val="tx1"/>
                </a:solidFill>
              </a:rPr>
              <a:t>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room_type</a:t>
            </a:r>
            <a:r>
              <a:rPr lang="en-US" sz="1050" dirty="0">
                <a:solidFill>
                  <a:schemeClr val="tx1"/>
                </a:solidFill>
              </a:rPr>
              <a:t>                                                       Varchar</a:t>
            </a:r>
          </a:p>
          <a:p>
            <a:pPr algn="just"/>
            <a:r>
              <a:rPr lang="en-US" sz="1050" dirty="0">
                <a:solidFill>
                  <a:schemeClr val="tx1"/>
                </a:solidFill>
              </a:rPr>
              <a:t>Capacity                                                            Varchar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A70D89-0CB4-1E92-6CF8-A2B25030C07E}"/>
              </a:ext>
            </a:extLst>
          </p:cNvPr>
          <p:cNvSpPr/>
          <p:nvPr/>
        </p:nvSpPr>
        <p:spPr>
          <a:xfrm>
            <a:off x="2443011" y="3144106"/>
            <a:ext cx="2877335" cy="10262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Restaurant_fact</a:t>
            </a:r>
            <a:endParaRPr lang="en-US" sz="1600" b="1" dirty="0">
              <a:solidFill>
                <a:schemeClr val="tx1"/>
              </a:solidFill>
            </a:endParaRP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Menu_id</a:t>
            </a:r>
            <a:r>
              <a:rPr lang="en-US" sz="1050" dirty="0">
                <a:solidFill>
                  <a:schemeClr val="tx1"/>
                </a:solidFill>
              </a:rPr>
              <a:t>                 Integer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Customer_id</a:t>
            </a:r>
            <a:r>
              <a:rPr lang="en-US" sz="1050" dirty="0">
                <a:solidFill>
                  <a:schemeClr val="tx1"/>
                </a:solidFill>
              </a:rPr>
              <a:t> Varchar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Time_id</a:t>
            </a:r>
            <a:r>
              <a:rPr lang="en-US" sz="1050" dirty="0">
                <a:solidFill>
                  <a:schemeClr val="tx1"/>
                </a:solidFill>
              </a:rPr>
              <a:t> Varchar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 err="1">
                <a:solidFill>
                  <a:schemeClr val="tx1"/>
                </a:solidFill>
              </a:rPr>
              <a:t>Menu_price</a:t>
            </a:r>
            <a:r>
              <a:rPr lang="en-US" sz="1050" dirty="0">
                <a:solidFill>
                  <a:schemeClr val="tx1"/>
                </a:solidFill>
              </a:rPr>
              <a:t>                                                     Varchar</a:t>
            </a:r>
          </a:p>
          <a:p>
            <a:pPr algn="just"/>
            <a:r>
              <a:rPr lang="en-US" sz="1050" dirty="0" err="1">
                <a:solidFill>
                  <a:schemeClr val="tx1"/>
                </a:solidFill>
              </a:rPr>
              <a:t>Room_id</a:t>
            </a:r>
            <a:r>
              <a:rPr lang="en-US" sz="1050" dirty="0">
                <a:solidFill>
                  <a:schemeClr val="tx1"/>
                </a:solidFill>
              </a:rPr>
              <a:t>                                                           Varchar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AAFFD47-5D55-2889-6A6B-033772EB4FB4}"/>
              </a:ext>
            </a:extLst>
          </p:cNvPr>
          <p:cNvCxnSpPr>
            <a:cxnSpLocks/>
            <a:stCxn id="6" idx="0"/>
          </p:cNvCxnSpPr>
          <p:nvPr/>
        </p:nvCxnSpPr>
        <p:spPr>
          <a:xfrm rot="5400000" flipH="1" flipV="1">
            <a:off x="9047647" y="-462562"/>
            <a:ext cx="206536" cy="17354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28FFB21D-A134-6877-C801-88770E6DD52D}"/>
              </a:ext>
            </a:extLst>
          </p:cNvPr>
          <p:cNvCxnSpPr>
            <a:cxnSpLocks/>
          </p:cNvCxnSpPr>
          <p:nvPr/>
        </p:nvCxnSpPr>
        <p:spPr>
          <a:xfrm rot="10800000" flipV="1">
            <a:off x="4402281" y="647536"/>
            <a:ext cx="2737906" cy="467185"/>
          </a:xfrm>
          <a:prstGeom prst="bentConnector3">
            <a:avLst>
              <a:gd name="adj1" fmla="val 146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B798C8A8-608D-0370-2959-390F08EFF1B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79165" y="1343096"/>
            <a:ext cx="1561026" cy="551554"/>
          </a:xfrm>
          <a:prstGeom prst="bentConnector3">
            <a:avLst>
              <a:gd name="adj1" fmla="val 1004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8402AE6-3515-2CFA-DB25-381BC6DAD351}"/>
              </a:ext>
            </a:extLst>
          </p:cNvPr>
          <p:cNvCxnSpPr/>
          <p:nvPr/>
        </p:nvCxnSpPr>
        <p:spPr>
          <a:xfrm flipV="1">
            <a:off x="6565900" y="2952402"/>
            <a:ext cx="0" cy="1324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483482F-577C-E834-9CF0-3B9F89E2A460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6759013" y="5300095"/>
            <a:ext cx="1" cy="422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8CCD8FEA-D999-9196-9DED-899817D2E144}"/>
              </a:ext>
            </a:extLst>
          </p:cNvPr>
          <p:cNvCxnSpPr/>
          <p:nvPr/>
        </p:nvCxnSpPr>
        <p:spPr>
          <a:xfrm>
            <a:off x="3584216" y="6243433"/>
            <a:ext cx="1409702" cy="2075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BCF3CD4B-4C5F-E3F1-07B5-3551A6AF4037}"/>
              </a:ext>
            </a:extLst>
          </p:cNvPr>
          <p:cNvCxnSpPr>
            <a:cxnSpLocks/>
            <a:stCxn id="33" idx="2"/>
          </p:cNvCxnSpPr>
          <p:nvPr/>
        </p:nvCxnSpPr>
        <p:spPr>
          <a:xfrm rot="5400000">
            <a:off x="2988930" y="4130913"/>
            <a:ext cx="853346" cy="9321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13AFEC39-51FB-4F13-3D74-77599DF16194}"/>
              </a:ext>
            </a:extLst>
          </p:cNvPr>
          <p:cNvCxnSpPr>
            <a:cxnSpLocks/>
          </p:cNvCxnSpPr>
          <p:nvPr/>
        </p:nvCxnSpPr>
        <p:spPr>
          <a:xfrm rot="10800000">
            <a:off x="891541" y="2973656"/>
            <a:ext cx="1551473" cy="900764"/>
          </a:xfrm>
          <a:prstGeom prst="bentConnector3">
            <a:avLst>
              <a:gd name="adj1" fmla="val 1000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0DA15642-F245-BCCA-4FCA-C98AD8573337}"/>
              </a:ext>
            </a:extLst>
          </p:cNvPr>
          <p:cNvCxnSpPr>
            <a:cxnSpLocks/>
          </p:cNvCxnSpPr>
          <p:nvPr/>
        </p:nvCxnSpPr>
        <p:spPr>
          <a:xfrm flipV="1">
            <a:off x="3415602" y="2537987"/>
            <a:ext cx="1060056" cy="601129"/>
          </a:xfrm>
          <a:prstGeom prst="bentConnector3">
            <a:avLst>
              <a:gd name="adj1" fmla="val -6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3B697D24-6285-D905-4EEA-DB34F3072135}"/>
              </a:ext>
            </a:extLst>
          </p:cNvPr>
          <p:cNvCxnSpPr>
            <a:cxnSpLocks/>
          </p:cNvCxnSpPr>
          <p:nvPr/>
        </p:nvCxnSpPr>
        <p:spPr>
          <a:xfrm>
            <a:off x="3539490" y="1858214"/>
            <a:ext cx="4575852" cy="1193981"/>
          </a:xfrm>
          <a:prstGeom prst="bentConnector3">
            <a:avLst>
              <a:gd name="adj1" fmla="val 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B2C9259D-FC72-D8B0-3BD5-A9FF70E078FD}"/>
              </a:ext>
            </a:extLst>
          </p:cNvPr>
          <p:cNvCxnSpPr/>
          <p:nvPr/>
        </p:nvCxnSpPr>
        <p:spPr>
          <a:xfrm>
            <a:off x="7352994" y="2235200"/>
            <a:ext cx="762348" cy="71720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DB0AF03D-8CA0-72AD-C2FB-6A816F8D19CE}"/>
              </a:ext>
            </a:extLst>
          </p:cNvPr>
          <p:cNvCxnSpPr>
            <a:endCxn id="16" idx="1"/>
          </p:cNvCxnSpPr>
          <p:nvPr/>
        </p:nvCxnSpPr>
        <p:spPr>
          <a:xfrm rot="16200000" flipH="1">
            <a:off x="8035671" y="5398112"/>
            <a:ext cx="787139" cy="6277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5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393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Arnav Chauhan</dc:creator>
  <cp:lastModifiedBy>Manish Biswas</cp:lastModifiedBy>
  <cp:revision>3</cp:revision>
  <dcterms:created xsi:type="dcterms:W3CDTF">2022-08-21T18:25:10Z</dcterms:created>
  <dcterms:modified xsi:type="dcterms:W3CDTF">2022-08-22T16:10:56Z</dcterms:modified>
</cp:coreProperties>
</file>